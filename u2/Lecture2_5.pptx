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sldIdLst>
    <p:sldId id="256" r:id="rId5"/>
    <p:sldId id="257" r:id="rId6"/>
    <p:sldId id="264" r:id="rId7"/>
    <p:sldId id="27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03532E-8442-85A1-37C9-DA306DD61763}" v="173" dt="2025-07-20T05:45:09.9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rthana Mehta" userId="S::prarthana.mehta@pdpu.ac.in::2340b563-6a22-4244-bb8c-68488e18e8b5" providerId="AD" clId="Web-{FA03532E-8442-85A1-37C9-DA306DD61763}"/>
    <pc:docChg chg="addSld modSld addMainMaster delMainMaster">
      <pc:chgData name="Prarthana Mehta" userId="S::prarthana.mehta@pdpu.ac.in::2340b563-6a22-4244-bb8c-68488e18e8b5" providerId="AD" clId="Web-{FA03532E-8442-85A1-37C9-DA306DD61763}" dt="2025-07-20T05:45:09.936" v="197" actId="20577"/>
      <pc:docMkLst>
        <pc:docMk/>
      </pc:docMkLst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4051154046" sldId="256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4051154046" sldId="256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4051154046" sldId="256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3415373509" sldId="257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415373509" sldId="257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415373509" sldId="257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2211033372" sldId="258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211033372" sldId="258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211033372" sldId="258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3637662926" sldId="259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637662926" sldId="259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637662926" sldId="259"/>
            <ac:spMk id="6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1128910555" sldId="260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128910555" sldId="260"/>
            <ac:spMk id="4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128910555" sldId="260"/>
            <ac:spMk id="5" creationId="{00000000-0000-0000-0000-000000000000}"/>
          </ac:spMkLst>
        </pc:spChg>
        <pc:graphicFrameChg chg="mod ord">
          <ac:chgData name="Prarthana Mehta" userId="S::prarthana.mehta@pdpu.ac.in::2340b563-6a22-4244-bb8c-68488e18e8b5" providerId="AD" clId="Web-{FA03532E-8442-85A1-37C9-DA306DD61763}" dt="2025-07-20T05:34:00.726" v="1"/>
          <ac:graphicFrameMkLst>
            <pc:docMk/>
            <pc:sldMk cId="1128910555" sldId="260"/>
            <ac:graphicFrameMk id="9" creationId="{00000000-0000-0000-0000-000000000000}"/>
          </ac:graphicFrameMkLst>
        </pc:graphicFrame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1542485820" sldId="261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542485820" sldId="261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542485820" sldId="261"/>
            <ac:spMk id="5" creationId="{00000000-0000-0000-0000-000000000000}"/>
          </ac:spMkLst>
        </pc:spChg>
        <pc:graphicFrameChg chg="mod ord">
          <ac:chgData name="Prarthana Mehta" userId="S::prarthana.mehta@pdpu.ac.in::2340b563-6a22-4244-bb8c-68488e18e8b5" providerId="AD" clId="Web-{FA03532E-8442-85A1-37C9-DA306DD61763}" dt="2025-07-20T05:34:00.726" v="1"/>
          <ac:graphicFrameMkLst>
            <pc:docMk/>
            <pc:sldMk cId="1542485820" sldId="261"/>
            <ac:graphicFrameMk id="4" creationId="{00000000-0000-0000-0000-000000000000}"/>
          </ac:graphicFrameMkLst>
        </pc:graphicFrame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3463538213" sldId="262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463538213" sldId="262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463538213" sldId="262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1476028541" sldId="278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476028541" sldId="278"/>
            <ac:spMk id="2" creationId="{00000000-0000-0000-0000-000000000000}"/>
          </ac:spMkLst>
        </pc:spChg>
        <pc:graphicFrameChg chg="mod ord">
          <ac:chgData name="Prarthana Mehta" userId="S::prarthana.mehta@pdpu.ac.in::2340b563-6a22-4244-bb8c-68488e18e8b5" providerId="AD" clId="Web-{FA03532E-8442-85A1-37C9-DA306DD61763}" dt="2025-07-20T05:34:00.726" v="1"/>
          <ac:graphicFrameMkLst>
            <pc:docMk/>
            <pc:sldMk cId="1476028541" sldId="278"/>
            <ac:graphicFrameMk id="4" creationId="{00000000-0000-0000-0000-000000000000}"/>
          </ac:graphicFrameMkLst>
        </pc:graphicFrame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1031970178" sldId="279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031970178" sldId="279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031970178" sldId="279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1593985684" sldId="280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593985684" sldId="280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593985684" sldId="280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1902137148" sldId="281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902137148" sldId="281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902137148" sldId="281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2811950812" sldId="282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811950812" sldId="282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811950812" sldId="282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3921188619" sldId="283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921188619" sldId="283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921188619" sldId="283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4156807633" sldId="284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4156807633" sldId="284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4156807633" sldId="284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2679470239" sldId="285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679470239" sldId="285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679470239" sldId="285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3986361243" sldId="286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986361243" sldId="286"/>
            <ac:spMk id="2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4250273499" sldId="287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4250273499" sldId="287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4250273499" sldId="287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3489537664" sldId="288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489537664" sldId="288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489537664" sldId="288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2955496920" sldId="289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955496920" sldId="289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955496920" sldId="289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2471334016" sldId="290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471334016" sldId="290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471334016" sldId="290"/>
            <ac:spMk id="3" creationId="{00000000-0000-0000-0000-000000000000}"/>
          </ac:spMkLst>
        </pc:spChg>
      </pc:sldChg>
      <pc:sldChg chg="modSp new">
        <pc:chgData name="Prarthana Mehta" userId="S::prarthana.mehta@pdpu.ac.in::2340b563-6a22-4244-bb8c-68488e18e8b5" providerId="AD" clId="Web-{FA03532E-8442-85A1-37C9-DA306DD61763}" dt="2025-07-20T05:45:09.936" v="197" actId="20577"/>
        <pc:sldMkLst>
          <pc:docMk/>
          <pc:sldMk cId="3455750260" sldId="291"/>
        </pc:sldMkLst>
        <pc:spChg chg="mod">
          <ac:chgData name="Prarthana Mehta" userId="S::prarthana.mehta@pdpu.ac.in::2340b563-6a22-4244-bb8c-68488e18e8b5" providerId="AD" clId="Web-{FA03532E-8442-85A1-37C9-DA306DD61763}" dt="2025-07-20T05:37:48.155" v="11" actId="20577"/>
          <ac:spMkLst>
            <pc:docMk/>
            <pc:sldMk cId="3455750260" sldId="291"/>
            <ac:spMk id="2" creationId="{2C01F82D-436F-8D42-3B2F-3A64C36228D8}"/>
          </ac:spMkLst>
        </pc:spChg>
        <pc:spChg chg="mod">
          <ac:chgData name="Prarthana Mehta" userId="S::prarthana.mehta@pdpu.ac.in::2340b563-6a22-4244-bb8c-68488e18e8b5" providerId="AD" clId="Web-{FA03532E-8442-85A1-37C9-DA306DD61763}" dt="2025-07-20T05:45:09.936" v="197" actId="20577"/>
          <ac:spMkLst>
            <pc:docMk/>
            <pc:sldMk cId="3455750260" sldId="291"/>
            <ac:spMk id="3" creationId="{30416858-7E66-09AC-FA30-CCC097B7CE93}"/>
          </ac:spMkLst>
        </pc:spChg>
      </pc:sldChg>
      <pc:sldChg chg="modSp add replId">
        <pc:chgData name="Prarthana Mehta" userId="S::prarthana.mehta@pdpu.ac.in::2340b563-6a22-4244-bb8c-68488e18e8b5" providerId="AD" clId="Web-{FA03532E-8442-85A1-37C9-DA306DD61763}" dt="2025-07-20T05:41:30.913" v="110"/>
        <pc:sldMkLst>
          <pc:docMk/>
          <pc:sldMk cId="3903332972" sldId="292"/>
        </pc:sldMkLst>
        <pc:spChg chg="mod">
          <ac:chgData name="Prarthana Mehta" userId="S::prarthana.mehta@pdpu.ac.in::2340b563-6a22-4244-bb8c-68488e18e8b5" providerId="AD" clId="Web-{FA03532E-8442-85A1-37C9-DA306DD61763}" dt="2025-07-20T05:41:30.913" v="110"/>
          <ac:spMkLst>
            <pc:docMk/>
            <pc:sldMk cId="3903332972" sldId="292"/>
            <ac:spMk id="3" creationId="{C606965D-2F09-13DC-D36D-56F220310F2B}"/>
          </ac:spMkLst>
        </pc:spChg>
      </pc:sldChg>
      <pc:sldChg chg="modSp add replId">
        <pc:chgData name="Prarthana Mehta" userId="S::prarthana.mehta@pdpu.ac.in::2340b563-6a22-4244-bb8c-68488e18e8b5" providerId="AD" clId="Web-{FA03532E-8442-85A1-37C9-DA306DD61763}" dt="2025-07-20T05:42:48.478" v="149" actId="20577"/>
        <pc:sldMkLst>
          <pc:docMk/>
          <pc:sldMk cId="1627901957" sldId="293"/>
        </pc:sldMkLst>
        <pc:spChg chg="mod">
          <ac:chgData name="Prarthana Mehta" userId="S::prarthana.mehta@pdpu.ac.in::2340b563-6a22-4244-bb8c-68488e18e8b5" providerId="AD" clId="Web-{FA03532E-8442-85A1-37C9-DA306DD61763}" dt="2025-07-20T05:42:48.478" v="149" actId="20577"/>
          <ac:spMkLst>
            <pc:docMk/>
            <pc:sldMk cId="1627901957" sldId="293"/>
            <ac:spMk id="3" creationId="{6A26E870-6C97-8B27-F219-DA2BEBC6C262}"/>
          </ac:spMkLst>
        </pc:spChg>
      </pc:sldChg>
      <pc:sldChg chg="modSp add replId">
        <pc:chgData name="Prarthana Mehta" userId="S::prarthana.mehta@pdpu.ac.in::2340b563-6a22-4244-bb8c-68488e18e8b5" providerId="AD" clId="Web-{FA03532E-8442-85A1-37C9-DA306DD61763}" dt="2025-07-20T05:44:33.263" v="191" actId="20577"/>
        <pc:sldMkLst>
          <pc:docMk/>
          <pc:sldMk cId="2798320956" sldId="294"/>
        </pc:sldMkLst>
        <pc:spChg chg="mod">
          <ac:chgData name="Prarthana Mehta" userId="S::prarthana.mehta@pdpu.ac.in::2340b563-6a22-4244-bb8c-68488e18e8b5" providerId="AD" clId="Web-{FA03532E-8442-85A1-37C9-DA306DD61763}" dt="2025-07-20T05:44:33.263" v="191" actId="20577"/>
          <ac:spMkLst>
            <pc:docMk/>
            <pc:sldMk cId="2798320956" sldId="294"/>
            <ac:spMk id="3" creationId="{19AFF0EF-D234-ABE0-3C4A-BE90D527F732}"/>
          </ac:spMkLst>
        </pc:spChg>
      </pc:sldChg>
      <pc:sldMasterChg chg="add del addSldLayout delSldLayout">
        <pc:chgData name="Prarthana Mehta" userId="S::prarthana.mehta@pdpu.ac.in::2340b563-6a22-4244-bb8c-68488e18e8b5" providerId="AD" clId="Web-{FA03532E-8442-85A1-37C9-DA306DD61763}" dt="2025-07-20T05:34:00.726" v="1"/>
        <pc:sldMasterMkLst>
          <pc:docMk/>
          <pc:sldMasterMk cId="1319882220" sldId="2147483648"/>
        </pc:sldMasterMkLst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2972802601" sldId="2147483649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3165925677" sldId="2147483650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3375467235" sldId="2147483651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1265094301" sldId="2147483652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2613184263" sldId="2147483653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3823260543" sldId="2147483654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306552245" sldId="2147483655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2991625761" sldId="2147483656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3574922682" sldId="2147483657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4191760227" sldId="2147483658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2770095545" sldId="2147483659"/>
          </pc:sldLayoutMkLst>
        </pc:sldLayoutChg>
      </pc:sldMasterChg>
      <pc:sldMasterChg chg="add del addSldLayout delSldLayout modSldLayout">
        <pc:chgData name="Prarthana Mehta" userId="S::prarthana.mehta@pdpu.ac.in::2340b563-6a22-4244-bb8c-68488e18e8b5" providerId="AD" clId="Web-{FA03532E-8442-85A1-37C9-DA306DD61763}" dt="2025-07-20T05:34:00.726" v="1"/>
        <pc:sldMasterMkLst>
          <pc:docMk/>
          <pc:sldMasterMk cId="3280964278" sldId="2147483660"/>
        </pc:sldMasterMkLst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2048335522" sldId="2147483661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3063532086" sldId="2147483662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253768132" sldId="2147483663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3885168057" sldId="2147483664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3560408381" sldId="2147483665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1604642638" sldId="2147483666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3156729691" sldId="2147483667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993960057" sldId="2147483668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993084829" sldId="2147483669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1044335234" sldId="2147483670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52852981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24" y="8"/>
            <a:ext cx="12191978" cy="4571994"/>
          </a:xfrm>
          <a:custGeom>
            <a:avLst/>
            <a:gdLst/>
            <a:ahLst/>
            <a:cxnLst/>
            <a:rect l="l" t="t" r="r" b="b"/>
            <a:pathLst>
              <a:path w="12191978" h="4571994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879FA31A-512E-4245-9DFD-3B6BE7D63AE9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451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125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24" y="8"/>
            <a:ext cx="12191978" cy="4571994"/>
          </a:xfrm>
          <a:custGeom>
            <a:avLst/>
            <a:gdLst/>
            <a:ahLst/>
            <a:cxnLst/>
            <a:rect l="l" t="t" r="r" b="b"/>
            <a:pathLst>
              <a:path w="12191978" h="4571994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914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699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205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527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136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02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1520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184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236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79FA31A-512E-4245-9DFD-3B6BE7D63AE9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5108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Digital Forensics (</a:t>
            </a:r>
            <a:r>
              <a:rPr lang="en-US" dirty="0"/>
              <a:t>20CP411T</a:t>
            </a:r>
            <a:r>
              <a:rPr lang="en-IN" dirty="0"/>
              <a:t>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GB" sz="6000" dirty="0">
                <a:latin typeface="+mj-lt"/>
                <a:ea typeface="+mj-ea"/>
                <a:cs typeface="+mj-cs"/>
              </a:rPr>
              <a:t>UNIT </a:t>
            </a:r>
            <a:r>
              <a:rPr lang="en-GB" sz="6000" dirty="0" smtClean="0">
                <a:latin typeface="+mj-lt"/>
                <a:ea typeface="+mj-ea"/>
                <a:cs typeface="+mj-cs"/>
              </a:rPr>
              <a:t>2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GB" sz="6100" dirty="0" smtClean="0">
                <a:latin typeface="+mj-lt"/>
                <a:ea typeface="+mj-ea"/>
                <a:cs typeface="+mj-cs"/>
              </a:rPr>
              <a:t>DATA </a:t>
            </a:r>
            <a:r>
              <a:rPr lang="en-GB" sz="6100" dirty="0">
                <a:latin typeface="+mj-lt"/>
                <a:ea typeface="+mj-ea"/>
                <a:cs typeface="+mj-cs"/>
              </a:rPr>
              <a:t>ACQUISITION</a:t>
            </a:r>
            <a:endParaRPr lang="en-IN" sz="61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51154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3200" dirty="0" smtClean="0"/>
              <a:t>Understanding Storage Formats And Digital Evidence</a:t>
            </a:r>
          </a:p>
          <a:p>
            <a:pPr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3200" dirty="0" smtClean="0"/>
              <a:t>Determining The Best Acquisition Method</a:t>
            </a:r>
          </a:p>
          <a:p>
            <a:pPr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3200" dirty="0" smtClean="0"/>
              <a:t>Acquisition Tools</a:t>
            </a:r>
          </a:p>
          <a:p>
            <a:pPr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3200" dirty="0" smtClean="0"/>
              <a:t>Validating Data Acquisitions</a:t>
            </a:r>
          </a:p>
          <a:p>
            <a:pPr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3200" dirty="0" smtClean="0"/>
              <a:t>Remote Network Acquisition Tools</a:t>
            </a:r>
            <a:endParaRPr lang="en-IN" sz="4800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</p:txBody>
      </p:sp>
    </p:spTree>
    <p:extLst>
      <p:ext uri="{BB962C8B-B14F-4D97-AF65-F5344CB8AC3E}">
        <p14:creationId xmlns:p14="http://schemas.microsoft.com/office/powerpoint/2010/main" val="3415373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/>
            </a:r>
            <a:br>
              <a:rPr lang="en-IN" smtClean="0"/>
            </a:br>
            <a:r>
              <a:rPr lang="en-IN" smtClean="0"/>
              <a:t>Acquisition Process for Digital Forensics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F43ABA-5F8B-27A7-5572-8B9B2F321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000" smtClean="0"/>
              <a:t>Involves the systematic and controlled gathering of digital evidence from various sources while maintaining the integrity and chain of custody of that evidence. 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475734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b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IN" sz="3600" dirty="0"/>
              <a:t>Acquisition Process for Digital Forensics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F43ABA-5F8B-27A7-5572-8B9B2F321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IN" sz="2400" b="1" i="0" u="none" strike="noStrike" baseline="0" dirty="0" smtClean="0">
                <a:solidFill>
                  <a:srgbClr val="000000"/>
                </a:solidFill>
                <a:latin typeface="Tw Cen MT (Body)"/>
              </a:rPr>
              <a:t>Preparation </a:t>
            </a:r>
            <a:r>
              <a:rPr lang="en-IN" sz="2400" b="1" i="0" u="none" strike="noStrike" baseline="0" dirty="0">
                <a:solidFill>
                  <a:srgbClr val="000000"/>
                </a:solidFill>
                <a:latin typeface="Tw Cen MT (Body)"/>
              </a:rPr>
              <a:t>and Planning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Tw Cen MT (Body)"/>
              </a:rPr>
              <a:t>: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w Cen MT (Body)"/>
              </a:rPr>
              <a:t>Define the scope and objectives of the forensic examination.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w Cen MT (Body)"/>
              </a:rPr>
              <a:t>Obtain the necessary legal authorization or warrants to seize and examine digital evidence. </a:t>
            </a:r>
            <a:endParaRPr lang="en-IN" sz="2400" b="0" i="0" u="none" strike="noStrike" baseline="0" dirty="0">
              <a:solidFill>
                <a:srgbClr val="000000"/>
              </a:solidFill>
              <a:latin typeface="Tw Cen MT (Body)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w Cen MT (Body)"/>
              </a:rPr>
              <a:t>Identify the sources of potential evidence, such as computers, mobile devices, network logs, cloud storage, and physical documents.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w Cen MT (Body)"/>
              </a:rPr>
              <a:t>Assemble the required tools and equipment, including forensic software, hardware write-blockers, and storage media. </a:t>
            </a:r>
          </a:p>
          <a:p>
            <a:pPr algn="just"/>
            <a:endParaRPr lang="en-US" sz="2400" b="0" i="0" u="none" strike="noStrike" baseline="0" dirty="0">
              <a:solidFill>
                <a:srgbClr val="000000"/>
              </a:solidFill>
              <a:latin typeface="Tw Cen MT (Body)"/>
            </a:endParaRPr>
          </a:p>
        </p:txBody>
      </p:sp>
    </p:spTree>
    <p:extLst>
      <p:ext uri="{BB962C8B-B14F-4D97-AF65-F5344CB8AC3E}">
        <p14:creationId xmlns:p14="http://schemas.microsoft.com/office/powerpoint/2010/main" val="3980271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b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IN" sz="3600" dirty="0"/>
              <a:t>Acquisition Process for Digital Forensics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F43ABA-5F8B-27A7-5572-8B9B2F321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06" y="2286000"/>
            <a:ext cx="10659035" cy="4023360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 startAt="2"/>
            </a:pPr>
            <a:r>
              <a:rPr lang="en-IN" sz="2400" b="1" i="0" u="none" strike="noStrike" baseline="0" dirty="0">
                <a:solidFill>
                  <a:srgbClr val="000000"/>
                </a:solidFill>
                <a:latin typeface="Tw Cen MT (Body)"/>
              </a:rPr>
              <a:t>Identification and Documentation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Tw Cen MT (Body)"/>
              </a:rPr>
              <a:t>: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w Cen MT (Body)"/>
              </a:rPr>
              <a:t>Document the initial condition of the evidence source, noting any physical damage, labels, or identifying information.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w Cen MT (Body)"/>
              </a:rPr>
              <a:t>Create a detailed record of the evidence's location, time, and date of acquisition, as well as the personnel involved.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w Cen MT (Body)"/>
              </a:rPr>
              <a:t>If applicable, take photographs or videos to visually document the evidence source. </a:t>
            </a:r>
          </a:p>
        </p:txBody>
      </p:sp>
    </p:spTree>
    <p:extLst>
      <p:ext uri="{BB962C8B-B14F-4D97-AF65-F5344CB8AC3E}">
        <p14:creationId xmlns:p14="http://schemas.microsoft.com/office/powerpoint/2010/main" val="2357916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b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IN" sz="3600" dirty="0"/>
              <a:t>Acquisition Process for Digital Forensics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F43ABA-5F8B-27A7-5572-8B9B2F321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06" y="2286000"/>
            <a:ext cx="10659035" cy="4023360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 startAt="3"/>
            </a:pPr>
            <a:r>
              <a:rPr lang="en-IN" sz="2400" b="1" i="0" u="none" strike="noStrike" baseline="0" dirty="0" smtClean="0">
                <a:solidFill>
                  <a:srgbClr val="000000"/>
                </a:solidFill>
                <a:latin typeface="Tw Cen MT (Body)"/>
              </a:rPr>
              <a:t>Securing </a:t>
            </a:r>
            <a:r>
              <a:rPr lang="en-IN" sz="2400" b="1" i="0" u="none" strike="noStrike" baseline="0" dirty="0">
                <a:solidFill>
                  <a:srgbClr val="000000"/>
                </a:solidFill>
                <a:latin typeface="Tw Cen MT (Body)"/>
              </a:rPr>
              <a:t>the Scene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Tw Cen MT (Body)"/>
              </a:rPr>
              <a:t>: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w Cen MT (Body)"/>
              </a:rPr>
              <a:t>Ensure that the evidence source is powered off or disconnected from networks to prevent remote tampering or data alteration.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w Cen MT (Body)"/>
              </a:rPr>
              <a:t>Use hardware write-blockers to prevent any write operations to the evidence source during acquisition.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w Cen MT (Body)"/>
              </a:rPr>
              <a:t>Physically secure the evidence source in a tamper-evident bag or container. </a:t>
            </a:r>
          </a:p>
        </p:txBody>
      </p:sp>
    </p:spTree>
    <p:extLst>
      <p:ext uri="{BB962C8B-B14F-4D97-AF65-F5344CB8AC3E}">
        <p14:creationId xmlns:p14="http://schemas.microsoft.com/office/powerpoint/2010/main" val="3201540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b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IN" sz="3600" dirty="0"/>
              <a:t>Acquisition Process for Digital Forensics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F43ABA-5F8B-27A7-5572-8B9B2F321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247" y="2286000"/>
            <a:ext cx="10856259" cy="4023360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 startAt="4"/>
            </a:pPr>
            <a:r>
              <a:rPr lang="en-IN" sz="2400" b="1" i="0" u="none" strike="noStrike" baseline="0" dirty="0">
                <a:solidFill>
                  <a:srgbClr val="000000"/>
                </a:solidFill>
                <a:latin typeface="Tw Cen MT (Body)"/>
              </a:rPr>
              <a:t>Acquisition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Tw Cen MT (Body)"/>
              </a:rPr>
              <a:t>: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w Cen MT (Body)"/>
              </a:rPr>
              <a:t>Create a forensic image of the evidence source using appropriate forensic software tools (e.g., FTK, EnCase, dd).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w Cen MT (Body)"/>
              </a:rPr>
              <a:t>Hash the acquired data before and after acquisition to verify data integrity. Common hash algorithms include MD5 and SHA-256.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w Cen MT (Body)"/>
              </a:rPr>
              <a:t>Store the acquired image on a secure and forensically clean storage device, ensuring it is write-protected to prevent any accidental changes. </a:t>
            </a:r>
          </a:p>
        </p:txBody>
      </p:sp>
    </p:spTree>
    <p:extLst>
      <p:ext uri="{BB962C8B-B14F-4D97-AF65-F5344CB8AC3E}">
        <p14:creationId xmlns:p14="http://schemas.microsoft.com/office/powerpoint/2010/main" val="401563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b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IN" sz="3600" dirty="0"/>
              <a:t>Acquisition Process for Digital Forensics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F43ABA-5F8B-27A7-5572-8B9B2F321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247" y="2286000"/>
            <a:ext cx="10856259" cy="4023360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 startAt="5"/>
            </a:pPr>
            <a:r>
              <a:rPr lang="en-IN" sz="2400" b="1" i="0" u="none" strike="noStrike" baseline="0" dirty="0" smtClean="0">
                <a:solidFill>
                  <a:srgbClr val="000000"/>
                </a:solidFill>
                <a:latin typeface="Tw Cen MT (Body)"/>
              </a:rPr>
              <a:t>Verification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Tw Cen MT (Body)"/>
              </a:rPr>
              <a:t>: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w Cen MT (Body)"/>
              </a:rPr>
              <a:t>Verify the integrity of the acquired data by comparing hash values with those generated before and after acquisition.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w Cen MT (Body)"/>
              </a:rPr>
              <a:t>Document the verification process, including the hash values and any discrepancies found.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w Cen MT (Body)"/>
              </a:rPr>
              <a:t>Ensure that the acquired data contains all relevant files, directories, and metadata. </a:t>
            </a:r>
          </a:p>
        </p:txBody>
      </p:sp>
    </p:spTree>
    <p:extLst>
      <p:ext uri="{BB962C8B-B14F-4D97-AF65-F5344CB8AC3E}">
        <p14:creationId xmlns:p14="http://schemas.microsoft.com/office/powerpoint/2010/main" val="3804312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b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IN" sz="3600" dirty="0"/>
              <a:t>Acquisition Process for Digital Forensics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F43ABA-5F8B-27A7-5572-8B9B2F321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965" y="2286000"/>
            <a:ext cx="10784541" cy="4023360"/>
          </a:xfrm>
        </p:spPr>
        <p:txBody>
          <a:bodyPr>
            <a:normAutofit/>
          </a:bodyPr>
          <a:lstStyle/>
          <a:p>
            <a:pPr marL="342900" indent="-342900" algn="just">
              <a:buFont typeface="+mj-lt"/>
              <a:buAutoNum type="arabicPeriod" startAt="6"/>
            </a:pPr>
            <a:r>
              <a:rPr lang="en-IN" sz="2400" b="1" i="0" u="none" strike="noStrike" baseline="0" dirty="0">
                <a:solidFill>
                  <a:srgbClr val="000000"/>
                </a:solidFill>
                <a:latin typeface="Tw Cen MT (Body)"/>
              </a:rPr>
              <a:t>Chain of Custody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Tw Cen MT (Body)"/>
              </a:rPr>
              <a:t>: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w Cen MT (Body)"/>
              </a:rPr>
              <a:t>Maintain a detailed chain of custody log that tracks the handling and transfer of the evidence from the acquisition phase onwards.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w Cen MT (Body)"/>
              </a:rPr>
              <a:t>Document any access to the evidence, including who accessed it, when, and for what purpose. </a:t>
            </a:r>
            <a:endParaRPr lang="en-US" sz="2400" dirty="0">
              <a:solidFill>
                <a:srgbClr val="000000"/>
              </a:solidFill>
              <a:latin typeface="Tw Cen MT (Body)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w Cen MT (Body)"/>
              </a:rPr>
              <a:t>Ensure that all individuals who handle the evidence sign the chain of custody log</a:t>
            </a:r>
            <a:r>
              <a:rPr lang="en-US" sz="2400" b="0" i="0" u="none" strike="noStrike" baseline="0" dirty="0" smtClean="0">
                <a:solidFill>
                  <a:srgbClr val="000000"/>
                </a:solidFill>
                <a:latin typeface="Tw Cen MT (Body)"/>
              </a:rPr>
              <a:t>.</a:t>
            </a:r>
            <a:endParaRPr lang="en-IN" sz="2400" dirty="0">
              <a:solidFill>
                <a:srgbClr val="000000"/>
              </a:solidFill>
              <a:latin typeface="Tw Cen MT (Body)"/>
            </a:endParaRPr>
          </a:p>
        </p:txBody>
      </p:sp>
    </p:spTree>
    <p:extLst>
      <p:ext uri="{BB962C8B-B14F-4D97-AF65-F5344CB8AC3E}">
        <p14:creationId xmlns:p14="http://schemas.microsoft.com/office/powerpoint/2010/main" val="2145775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b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IN" sz="3600" dirty="0"/>
              <a:t>Acquisition Process for Digital Forensics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F43ABA-5F8B-27A7-5572-8B9B2F321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965" y="2286000"/>
            <a:ext cx="10784541" cy="4023360"/>
          </a:xfrm>
        </p:spPr>
        <p:txBody>
          <a:bodyPr>
            <a:normAutofit/>
          </a:bodyPr>
          <a:lstStyle/>
          <a:p>
            <a:pPr marL="342900" indent="-342900" algn="just">
              <a:buFont typeface="+mj-lt"/>
              <a:buAutoNum type="arabicPeriod" startAt="7"/>
            </a:pPr>
            <a:r>
              <a:rPr lang="en-IN" sz="2400" b="1" i="0" u="none" strike="noStrike" baseline="0" dirty="0" smtClean="0">
                <a:solidFill>
                  <a:srgbClr val="000000"/>
                </a:solidFill>
                <a:latin typeface="Tw Cen MT (Body)"/>
              </a:rPr>
              <a:t>Transportation </a:t>
            </a:r>
            <a:r>
              <a:rPr lang="en-IN" sz="2400" b="1" i="0" u="none" strike="noStrike" baseline="0" dirty="0">
                <a:solidFill>
                  <a:srgbClr val="000000"/>
                </a:solidFill>
                <a:latin typeface="Tw Cen MT (Body)"/>
              </a:rPr>
              <a:t>and Storage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Tw Cen MT (Body)"/>
              </a:rPr>
              <a:t>: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w Cen MT (Body)"/>
              </a:rPr>
              <a:t>Safely transport the acquired evidence to a secure storage location with controlled access.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w Cen MT (Body)"/>
              </a:rPr>
              <a:t>Store the evidence in a manner that preserves its integrity and protects it from physical damage, environmental factors, and unauthorized access.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w Cen MT (Body)"/>
              </a:rPr>
              <a:t>Maintain appropriate labeling and documentation to identify the evidence. </a:t>
            </a:r>
          </a:p>
        </p:txBody>
      </p:sp>
    </p:spTree>
    <p:extLst>
      <p:ext uri="{BB962C8B-B14F-4D97-AF65-F5344CB8AC3E}">
        <p14:creationId xmlns:p14="http://schemas.microsoft.com/office/powerpoint/2010/main" val="2085524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b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IN" sz="3600" dirty="0"/>
              <a:t>Acquisition Process for Digital Forensics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F43ABA-5F8B-27A7-5572-8B9B2F321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 startAt="8"/>
            </a:pPr>
            <a:r>
              <a:rPr lang="en-IN" sz="2400" b="1" i="0" u="none" strike="noStrike" baseline="0" dirty="0">
                <a:solidFill>
                  <a:srgbClr val="000000"/>
                </a:solidFill>
                <a:latin typeface="Tw Cen MT (Body)"/>
              </a:rPr>
              <a:t>Report and Documentation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Tw Cen MT (Body)"/>
              </a:rPr>
              <a:t>: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w Cen MT (Body)"/>
              </a:rPr>
              <a:t>Create a detailed report documenting the acquisition process, including a description of the evidence source, acquisition methods, and any issues encountered.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w Cen MT (Body)"/>
              </a:rPr>
              <a:t>Include information about the hardware and software used, as well as the chain of custody log.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w Cen MT (Body)"/>
              </a:rPr>
              <a:t>Prepare the evidence for analysis by ensuring that it is organized and cataloged effectively. </a:t>
            </a:r>
            <a:endParaRPr lang="en-IN" sz="2400" dirty="0">
              <a:solidFill>
                <a:srgbClr val="000000"/>
              </a:solidFill>
              <a:latin typeface="Tw Cen MT (Body)"/>
            </a:endParaRPr>
          </a:p>
        </p:txBody>
      </p:sp>
    </p:spTree>
    <p:extLst>
      <p:ext uri="{BB962C8B-B14F-4D97-AF65-F5344CB8AC3E}">
        <p14:creationId xmlns:p14="http://schemas.microsoft.com/office/powerpoint/2010/main" val="3444005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b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IN" sz="3600" dirty="0"/>
              <a:t>Acquisition Process for Digital Forensics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F43ABA-5F8B-27A7-5572-8B9B2F321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 startAt="9"/>
            </a:pPr>
            <a:r>
              <a:rPr lang="en-IN" sz="2400" b="1" i="0" u="none" strike="noStrike" baseline="0" dirty="0" smtClean="0">
                <a:solidFill>
                  <a:srgbClr val="000000"/>
                </a:solidFill>
                <a:latin typeface="Tw Cen MT (Body)"/>
              </a:rPr>
              <a:t>Presentation </a:t>
            </a:r>
            <a:r>
              <a:rPr lang="en-IN" sz="2400" b="1" i="0" u="none" strike="noStrike" baseline="0" dirty="0">
                <a:solidFill>
                  <a:srgbClr val="000000"/>
                </a:solidFill>
                <a:latin typeface="Tw Cen MT (Body)"/>
              </a:rPr>
              <a:t>in Court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Tw Cen MT (Body)"/>
              </a:rPr>
              <a:t>: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w Cen MT (Body)"/>
              </a:rPr>
              <a:t>If the digital evidence is intended for use in legal proceedings, ensure that it complies with legal and evidentiary requirements.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w Cen MT (Body)"/>
              </a:rPr>
              <a:t>Provide expert testimony if necessary to explain the acquisition process and the authenticity of the evidence.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400" b="0" i="0" u="none" strike="noStrike" baseline="0" dirty="0">
              <a:solidFill>
                <a:srgbClr val="000000"/>
              </a:solidFill>
              <a:latin typeface="Tw Cen MT (Body)"/>
            </a:endParaRPr>
          </a:p>
        </p:txBody>
      </p:sp>
    </p:spTree>
    <p:extLst>
      <p:ext uri="{BB962C8B-B14F-4D97-AF65-F5344CB8AC3E}">
        <p14:creationId xmlns:p14="http://schemas.microsoft.com/office/powerpoint/2010/main" val="3650163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b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IN" sz="3600" dirty="0"/>
              <a:t>Acquisition Process for Digital Forensics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F43ABA-5F8B-27A7-5572-8B9B2F321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 startAt="10"/>
            </a:pPr>
            <a:r>
              <a:rPr lang="en-IN" sz="2400" b="1" i="0" u="none" strike="noStrike" baseline="0" dirty="0">
                <a:solidFill>
                  <a:srgbClr val="000000"/>
                </a:solidFill>
                <a:latin typeface="Tw Cen MT (Body)"/>
              </a:rPr>
              <a:t>Retention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Tw Cen MT (Body)"/>
              </a:rPr>
              <a:t>: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w Cen MT (Body)"/>
              </a:rPr>
              <a:t>Retain the acquired evidence securely for the duration required by legal and organizational policies.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w Cen MT (Body)"/>
              </a:rPr>
              <a:t>Ensure that evidence is properly preserved, archived, and protected against loss or destruction.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400" b="0" i="0" u="none" strike="noStrike" baseline="0" dirty="0">
              <a:solidFill>
                <a:srgbClr val="000000"/>
              </a:solidFill>
              <a:latin typeface="Tw Cen MT (Body)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400" b="0" i="0" u="none" strike="noStrike" baseline="0" dirty="0">
              <a:solidFill>
                <a:srgbClr val="000000"/>
              </a:solidFill>
              <a:latin typeface="Tw Cen MT (Body)"/>
            </a:endParaRPr>
          </a:p>
        </p:txBody>
      </p:sp>
    </p:spTree>
    <p:extLst>
      <p:ext uri="{BB962C8B-B14F-4D97-AF65-F5344CB8AC3E}">
        <p14:creationId xmlns:p14="http://schemas.microsoft.com/office/powerpoint/2010/main" val="40467723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534949"/>
      </a:dk2>
      <a:lt2>
        <a:srgbClr val="CCD1B9"/>
      </a:lt2>
      <a:accent1>
        <a:srgbClr val="C66951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125000"/>
              </a:schemeClr>
              <a:schemeClr val="phClr">
                <a:tint val="92000"/>
                <a:shade val="70000"/>
                <a:satMod val="110000"/>
              </a:schemeClr>
            </a:duotone>
          </a:blip>
          <a:tile tx="0" ty="0" sx="22000" sy="2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E736489A-00C3-4E0A-AAA8-D4D3127BA5B3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8D1DA52E0B37448E565D05614DEEF6" ma:contentTypeVersion="3" ma:contentTypeDescription="Create a new document." ma:contentTypeScope="" ma:versionID="99249173c1f251a05e5000a5bdea289a">
  <xsd:schema xmlns:xsd="http://www.w3.org/2001/XMLSchema" xmlns:xs="http://www.w3.org/2001/XMLSchema" xmlns:p="http://schemas.microsoft.com/office/2006/metadata/properties" xmlns:ns2="6a79c26d-86cc-46f3-a88a-008fb10aa6cf" targetNamespace="http://schemas.microsoft.com/office/2006/metadata/properties" ma:root="true" ma:fieldsID="1565b3d06c9c401d9760a800deeb3985" ns2:_="">
    <xsd:import namespace="6a79c26d-86cc-46f3-a88a-008fb10aa6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79c26d-86cc-46f3-a88a-008fb10aa6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5EE8C7-6416-4DEB-AC02-C0449C044D3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B648962-0FD7-4C83-B9BD-AA0CAA33FC8C}">
  <ds:schemaRefs>
    <ds:schemaRef ds:uri="6a79c26d-86cc-46f3-a88a-008fb10aa6c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E13E14C-89F7-4CBC-A1BC-E49798C83CA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17</TotalTime>
  <Words>604</Words>
  <Application>Microsoft Office PowerPoint</Application>
  <PresentationFormat>Widescreen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Calibri</vt:lpstr>
      <vt:lpstr>Mangal</vt:lpstr>
      <vt:lpstr>Times New Roman</vt:lpstr>
      <vt:lpstr>Tw Cen MT</vt:lpstr>
      <vt:lpstr>Tw Cen MT (Body)</vt:lpstr>
      <vt:lpstr>Tw Cen MT Condensed</vt:lpstr>
      <vt:lpstr>Wingdings</vt:lpstr>
      <vt:lpstr>Wingdings 3</vt:lpstr>
      <vt:lpstr>Integral</vt:lpstr>
      <vt:lpstr>Digital Forensics (20CP411T)</vt:lpstr>
      <vt:lpstr>Outline</vt:lpstr>
      <vt:lpstr> Acquisition Process for Digital Forensics </vt:lpstr>
      <vt:lpstr> Acquisition Process for Digital Forensics </vt:lpstr>
      <vt:lpstr> Acquisition Process for Digital Forensics </vt:lpstr>
      <vt:lpstr> Acquisition Process for Digital Forensics </vt:lpstr>
      <vt:lpstr> Acquisition Process for Digital Forensics </vt:lpstr>
      <vt:lpstr> Acquisition Process for Digital Forensics </vt:lpstr>
      <vt:lpstr> Acquisition Process for Digital Forensics </vt:lpstr>
      <vt:lpstr> Acquisition Process for Digital Forensics </vt:lpstr>
      <vt:lpstr> Acquisition Process for Digital Forensics </vt:lpstr>
      <vt:lpstr> Acquisition Process for Digital Forensics </vt:lpstr>
      <vt:lpstr> Acquisition Process for Digital Forensics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Forensics (20CP411T)</dc:title>
  <dc:creator>Prarthana Mehta</dc:creator>
  <cp:lastModifiedBy>Prarthana Mehta</cp:lastModifiedBy>
  <cp:revision>10</cp:revision>
  <dcterms:created xsi:type="dcterms:W3CDTF">2025-07-08T07:00:19Z</dcterms:created>
  <dcterms:modified xsi:type="dcterms:W3CDTF">2025-09-01T04:37:26Z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0x0101001C8D1DA52E0B37448E565D05614DEEF6</vt:lpwstr>
  </property>
</Properties>
</file>